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31520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6126480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534095" y="9144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400" b="0">
                <a:solidFill>
                  <a:srgbClr val="D4AF37"/>
                </a:solidFill>
                <a:latin typeface="微软雅黑"/>
                <a:rFonts eastAsia="微软雅黑" ascii="微软雅黑" hAnsi="微软雅黑"/>
              </a:rPr>
              <a:t>民航系统党课  ·  专题汇报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332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6000" b="1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坚守正确政绩观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10332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6000" b="1">
                <a:solidFill>
                  <a:srgbClr val="D4AF37"/>
                </a:solidFill>
                <a:latin typeface="微软雅黑"/>
                <a:rFonts eastAsia="微软雅黑" ascii="微软雅黑" hAnsi="微软雅黑"/>
              </a:rPr>
              <a:t>筑牢民航初心使命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— 民航运输领域典型案例党课 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汇报单位：民航党支部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汇 报 人：×××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64592" cy="64008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1F2B3D"/>
                </a:solidFill>
                <a:latin typeface="微软雅黑"/>
                <a:rFonts eastAsia="微软雅黑" ascii="微软雅黑" hAnsi="微软雅黑"/>
              </a:rPr>
              <a:t>目  录 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66666"/>
                </a:solidFill>
                <a:latin typeface="微软雅黑"/>
                <a:rFonts eastAsia="微软雅黑" ascii="微软雅黑" hAnsi="微软雅黑"/>
              </a:rPr>
              <a:t>本次党课主要从以下四个方面展开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47120" cy="1500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457200" y="1344168"/>
            <a:ext cx="731520" cy="30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914400" cy="86868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9144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3400" b="1">
                <a:solidFill>
                  <a:srgbClr val="D4AF37"/>
                </a:solidFill>
                <a:latin typeface="微软雅黑"/>
                <a:rFonts eastAsia="微软雅黑" ascii="微软雅黑" hAnsi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810512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1F2B3D"/>
                </a:solidFill>
                <a:latin typeface="微软雅黑"/>
                <a:rFonts eastAsia="微软雅黑" ascii="微软雅黑" hAnsi="微软雅黑"/>
              </a:rPr>
              <a:t>深刻把握民航运输领域正确政绩观核心要义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24028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66666"/>
                </a:solidFill>
                <a:latin typeface="微软雅黑"/>
                <a:rFonts eastAsia="微软雅黑" ascii="微软雅黑" hAnsi="微软雅黑"/>
              </a:rPr>
              <a:t>明确内涵 · 厘清边界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20240" y="2743200"/>
            <a:ext cx="9601200" cy="8000"/>
          </a:xfrm>
          <a:prstGeom prst="rect">
            <a:avLst/>
          </a:prstGeom>
          <a:solidFill>
            <a:srgbClr val="F5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731520" y="2788920"/>
            <a:ext cx="914400" cy="86868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1520" y="2788920"/>
            <a:ext cx="9144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3400" b="1">
                <a:solidFill>
                  <a:srgbClr val="D4AF37"/>
                </a:solidFill>
                <a:latin typeface="微软雅黑"/>
                <a:rFonts eastAsia="微软雅黑" ascii="微软雅黑" hAnsi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862072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1F2B3D"/>
                </a:solidFill>
                <a:latin typeface="微软雅黑"/>
                <a:rFonts eastAsia="微软雅黑" ascii="微软雅黑" hAnsi="微软雅黑"/>
              </a:rPr>
              <a:t>以厦航为标杆，践行运输领域正确政绩观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29184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66666"/>
                </a:solidFill>
                <a:latin typeface="微软雅黑"/>
                <a:rFonts eastAsia="微软雅黑" ascii="微软雅黑" hAnsi="微软雅黑"/>
              </a:rPr>
              <a:t>正面示范 · 经验做法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20240" y="3794760"/>
            <a:ext cx="9601200" cy="8000"/>
          </a:xfrm>
          <a:prstGeom prst="rect">
            <a:avLst/>
          </a:prstGeom>
          <a:solidFill>
            <a:srgbClr val="F5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731520" y="3840480"/>
            <a:ext cx="914400" cy="86868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1520" y="3840480"/>
            <a:ext cx="9144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3400" b="1">
                <a:solidFill>
                  <a:srgbClr val="D4AF37"/>
                </a:solidFill>
                <a:latin typeface="微软雅黑"/>
                <a:rFonts eastAsia="微软雅黑" ascii="微软雅黑" hAnsi="微软雅黑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913632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1F2B3D"/>
                </a:solidFill>
                <a:latin typeface="微软雅黑"/>
                <a:rFonts eastAsia="微软雅黑" ascii="微软雅黑" hAnsi="微软雅黑"/>
              </a:rPr>
              <a:t>负面典型：民航运输领域政绩观错位事例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43434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66666"/>
                </a:solidFill>
                <a:latin typeface="微软雅黑"/>
                <a:rFonts eastAsia="微软雅黑" ascii="微软雅黑" hAnsi="微软雅黑"/>
              </a:rPr>
              <a:t>五大案例 · 警钟长鸣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20240" y="4846320"/>
            <a:ext cx="9601200" cy="8000"/>
          </a:xfrm>
          <a:prstGeom prst="rect">
            <a:avLst/>
          </a:prstGeom>
          <a:solidFill>
            <a:srgbClr val="F5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731520" y="4892040"/>
            <a:ext cx="914400" cy="86868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31520" y="4892040"/>
            <a:ext cx="9144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3400" b="1">
                <a:solidFill>
                  <a:srgbClr val="D4AF37"/>
                </a:solidFill>
                <a:latin typeface="微软雅黑"/>
                <a:rFonts eastAsia="微软雅黑" ascii="微软雅黑" hAnsi="微软雅黑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4965192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1F2B3D"/>
                </a:solidFill>
                <a:latin typeface="微软雅黑"/>
                <a:rFonts eastAsia="微软雅黑" ascii="微软雅黑" hAnsi="微软雅黑"/>
              </a:rPr>
              <a:t>正反对照反思，校准民航干部正确政绩观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539496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66666"/>
                </a:solidFill>
                <a:latin typeface="微软雅黑"/>
                <a:rFonts eastAsia="微软雅黑" ascii="微软雅黑" hAnsi="微软雅黑"/>
              </a:rPr>
              <a:t>对标对表 · 担当作为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目  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20095" y="656539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64592" cy="64008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1F2B3D"/>
                </a:solidFill>
                <a:latin typeface="微软雅黑"/>
                <a:rFonts eastAsia="微软雅黑" ascii="微软雅黑" hAnsi="微软雅黑"/>
              </a:rPr>
              <a:t>导  语  PREFACE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66666"/>
                </a:solidFill>
                <a:latin typeface="微软雅黑"/>
                <a:rFonts eastAsia="微软雅黑" ascii="微软雅黑" hAnsi="微软雅黑"/>
              </a:rPr>
              <a:t>政绩观是党员干部世界观、人生观、价值观的集中体现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47120" cy="1500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457200" y="1344168"/>
            <a:ext cx="731520" cy="30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698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800" b="0">
                <a:solidFill>
                  <a:srgbClr val="333333"/>
                </a:solidFill>
                <a:latin typeface="微软雅黑"/>
                <a:rFonts eastAsia="微软雅黑" ascii="微软雅黑" hAnsi="微软雅黑"/>
              </a:rPr>
              <a:t>同志们，政绩观是党员干部世界观、人生观、价值观的集中体现，是干事创业、履职尽责的根本标尺。民航作为国家战略性先导产业，一头连着国家安全、一头连着民生福祉，运输领域的航线布局、市场经营、服务保障、行风作风、国企管理等每一项工作，都直接检验我们的政绩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5167" y="4023360"/>
            <a:ext cx="3474720" cy="2011680"/>
          </a:xfrm>
          <a:prstGeom prst="roundRect">
            <a:avLst>
              <a:gd name="adj" fmla="val 12000"/>
            </a:avLst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55167" y="4023360"/>
            <a:ext cx="3474720" cy="41148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5167" y="402336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D4AF37"/>
                </a:solidFill>
                <a:latin typeface="微软雅黑"/>
                <a:rFonts eastAsia="微软雅黑" ascii="微软雅黑" hAnsi="微软雅黑"/>
              </a:rPr>
              <a:t>聚焦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167" y="461772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1">
                <a:solidFill>
                  <a:srgbClr val="1F2B3D"/>
                </a:solidFill>
                <a:latin typeface="微软雅黑"/>
                <a:rFonts eastAsia="微软雅黑" ascii="微软雅黑" hAnsi="微软雅黑"/>
              </a:rPr>
              <a:t>运输主业政绩观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167" y="525780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300" b="0">
                <a:solidFill>
                  <a:srgbClr val="333333"/>
                </a:solidFill>
                <a:latin typeface="微软雅黑"/>
                <a:rFonts eastAsia="微软雅黑" ascii="微软雅黑" hAnsi="微软雅黑"/>
              </a:rPr>
              <a:t>经营、市场、航线、服务、管理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8487" y="4023360"/>
            <a:ext cx="3474720" cy="2011680"/>
          </a:xfrm>
          <a:prstGeom prst="roundRect">
            <a:avLst>
              <a:gd name="adj" fmla="val 12000"/>
            </a:avLst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58487" y="4023360"/>
            <a:ext cx="3474720" cy="41148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358487" y="402336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D4AF37"/>
                </a:solidFill>
                <a:latin typeface="微软雅黑"/>
                <a:rFonts eastAsia="微软雅黑" ascii="微软雅黑" hAnsi="微软雅黑"/>
              </a:rPr>
              <a:t>剖析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8487" y="461772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1">
                <a:solidFill>
                  <a:srgbClr val="1F2B3D"/>
                </a:solidFill>
                <a:latin typeface="微软雅黑"/>
                <a:rFonts eastAsia="微软雅黑" ascii="微软雅黑" hAnsi="微软雅黑"/>
              </a:rPr>
              <a:t>五类反面问题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58487" y="525780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300" b="0">
                <a:solidFill>
                  <a:srgbClr val="333333"/>
                </a:solidFill>
                <a:latin typeface="微软雅黑"/>
                <a:rFonts eastAsia="微软雅黑" ascii="微软雅黑" hAnsi="微软雅黑"/>
              </a:rPr>
              <a:t>错位 · 形式 · 功利 · 漂浮 · 失范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1807" y="4023360"/>
            <a:ext cx="3474720" cy="2011680"/>
          </a:xfrm>
          <a:prstGeom prst="roundRect">
            <a:avLst>
              <a:gd name="adj" fmla="val 12000"/>
            </a:avLst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61807" y="4023360"/>
            <a:ext cx="3474720" cy="41148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061807" y="402336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D4AF37"/>
                </a:solidFill>
                <a:latin typeface="微软雅黑"/>
                <a:rFonts eastAsia="微软雅黑" ascii="微软雅黑" hAnsi="微软雅黑"/>
              </a:rPr>
              <a:t>落脚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1807" y="461772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1">
                <a:solidFill>
                  <a:srgbClr val="1F2B3D"/>
                </a:solidFill>
                <a:latin typeface="微软雅黑"/>
                <a:rFonts eastAsia="微软雅黑" ascii="微软雅黑" hAnsi="微软雅黑"/>
              </a:rPr>
              <a:t>正反对照以案明纪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61807" y="525780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300" b="0">
                <a:solidFill>
                  <a:srgbClr val="333333"/>
                </a:solidFill>
                <a:latin typeface="微软雅黑"/>
                <a:rFonts eastAsia="微软雅黑" ascii="微软雅黑" hAnsi="微软雅黑"/>
              </a:rPr>
              <a:t>以案促改 · 担当作为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导  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56539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274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0" b="1">
                <a:solidFill>
                  <a:srgbClr val="D4AF37"/>
                </a:solidFill>
                <a:latin typeface="微软雅黑"/>
                <a:rFonts eastAsia="微软雅黑" ascii="微软雅黑" hAnsi="微软雅黑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640080" cy="4000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29200" y="2011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A81F1F"/>
                </a:solidFill>
                <a:latin typeface="微软雅黑"/>
                <a:rFonts eastAsia="微软雅黑" ascii="微软雅黑" hAnsi="微软雅黑"/>
              </a:rPr>
              <a:t>PART 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651760"/>
            <a:ext cx="6858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1F2B3D"/>
                </a:solidFill>
                <a:latin typeface="微软雅黑"/>
                <a:rFonts eastAsia="微软雅黑" ascii="微软雅黑" hAnsi="微软雅黑"/>
              </a:rPr>
              <a:t>深刻把握民航运输领域
正确政绩观核心要义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572000"/>
            <a:ext cx="6858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66666"/>
                </a:solidFill>
                <a:latin typeface="微软雅黑"/>
                <a:rFonts eastAsia="微软雅黑" ascii="微软雅黑" hAnsi="微软雅黑"/>
              </a:rPr>
              <a:t>Understanding the Core Meaning
明确正确政绩观的内涵与边界，厘清倡导与反对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第一部分  正确政绩观核心要义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56539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64592" cy="64008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1F2B3D"/>
                </a:solidFill>
                <a:latin typeface="微软雅黑"/>
                <a:rFonts eastAsia="微软雅黑" ascii="微软雅黑" hAnsi="微软雅黑"/>
              </a:rPr>
              <a:t>一、正确政绩观核心要义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66666"/>
                </a:solidFill>
                <a:latin typeface="微软雅黑"/>
                <a:rFonts eastAsia="微软雅黑" ascii="微软雅黑" hAnsi="微软雅黑"/>
              </a:rPr>
              <a:t>对民航运输系统党员干部而言，正确政绩观就是——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47120" cy="1500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457200" y="1344168"/>
            <a:ext cx="731520" cy="30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698480" cy="1280160"/>
          </a:xfrm>
          <a:prstGeom prst="roundRect">
            <a:avLst>
              <a:gd name="adj" fmla="val 12000"/>
            </a:avLst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400" b="1">
                <a:solidFill>
                  <a:srgbClr val="A81F1F"/>
                </a:solidFill>
                <a:latin typeface="微软雅黑"/>
                <a:rFonts eastAsia="微软雅黑" ascii="微软雅黑" hAnsi="微软雅黑"/>
              </a:rPr>
              <a:t>坚持人民航空为人民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1F2B3D"/>
                </a:solidFill>
                <a:latin typeface="微软雅黑"/>
                <a:rFonts eastAsia="微软雅黑" ascii="微软雅黑" hAnsi="微软雅黑"/>
              </a:rPr>
              <a:t>不唯数据唯实效 · 不重显绩重潜绩 · 不谋私利谋公利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00400"/>
            <a:ext cx="534924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5349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✓  坚持倡导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657600"/>
            <a:ext cx="5349240" cy="246888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97280" y="3840480"/>
            <a:ext cx="48006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rFonts eastAsia="微软雅黑" ascii="微软雅黑" hAnsi="微软雅黑"/>
              </a:rPr>
              <a:t>●  实事求是、务实为民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rFonts eastAsia="微软雅黑" ascii="微软雅黑" hAnsi="微软雅黑"/>
              </a:rPr>
              <a:t>●  合规经营、久久为功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rFonts eastAsia="微软雅黑" ascii="微软雅黑" hAnsi="微软雅黑"/>
              </a:rPr>
              <a:t>●  深耕主业、稳健发展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rFonts eastAsia="微软雅黑" ascii="微软雅黑" hAnsi="微软雅黑"/>
              </a:rPr>
              <a:t>●  以人民为中心、以旅客为本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200400"/>
            <a:ext cx="5349240" cy="4572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63640" y="3200400"/>
            <a:ext cx="5349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✗  坚决反对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3657600"/>
            <a:ext cx="5349240" cy="246888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629400" y="3840480"/>
            <a:ext cx="48006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rFonts eastAsia="微软雅黑" ascii="微软雅黑" hAnsi="微软雅黑"/>
              </a:rPr>
              <a:t>●  盲目铺摊子、虚假凑指标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rFonts eastAsia="微软雅黑" ascii="微软雅黑" hAnsi="微软雅黑"/>
              </a:rPr>
              <a:t>●  重宣传轻实效、搞行业特权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rFonts eastAsia="微软雅黑" ascii="微软雅黑" hAnsi="微软雅黑"/>
              </a:rPr>
              <a:t>●  经营粗放任性、违规失范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rFonts eastAsia="微软雅黑" ascii="微软雅黑" hAnsi="微软雅黑"/>
              </a:rPr>
              <a:t>●  不顾基层和群众实际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第一部分  正确政绩观核心要义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56539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274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0" b="1">
                <a:solidFill>
                  <a:srgbClr val="D4AF37"/>
                </a:solidFill>
                <a:latin typeface="微软雅黑"/>
                <a:rFonts eastAsia="微软雅黑" ascii="微软雅黑" hAnsi="微软雅黑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640080" cy="4000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29200" y="2011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A81F1F"/>
                </a:solidFill>
                <a:latin typeface="微软雅黑"/>
                <a:rFonts eastAsia="微软雅黑" ascii="微软雅黑" hAnsi="微软雅黑"/>
              </a:rPr>
              <a:t>PART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651760"/>
            <a:ext cx="6858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1F2B3D"/>
                </a:solidFill>
                <a:latin typeface="微软雅黑"/>
                <a:rFonts eastAsia="微软雅黑" ascii="微软雅黑" hAnsi="微软雅黑"/>
              </a:rPr>
              <a:t>以厦航为标杆
践行运输领域正确政绩观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572000"/>
            <a:ext cx="6858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66666"/>
                </a:solidFill>
                <a:latin typeface="微软雅黑"/>
                <a:rFonts eastAsia="微软雅黑" ascii="微软雅黑" hAnsi="微软雅黑"/>
              </a:rPr>
              <a:t>Xiamen Airlines as a Benchmark
锚定运输主业，一张蓝图绘到底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第二部分  以厦航为标杆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56539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64592" cy="64008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1F2B3D"/>
                </a:solidFill>
                <a:latin typeface="微软雅黑"/>
                <a:rFonts eastAsia="微软雅黑" ascii="微软雅黑" hAnsi="微软雅黑"/>
              </a:rPr>
              <a:t>（一）厦航党委班子：锚定运输主业，一张蓝图绘到底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66666"/>
                </a:solidFill>
                <a:latin typeface="微软雅黑"/>
                <a:rFonts eastAsia="微软雅黑" ascii="微软雅黑" hAnsi="微软雅黑"/>
              </a:rPr>
              <a:t>依靠改革 · 舍得投入 · 服务规范 · 以人为本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47120" cy="1500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457200" y="1344168"/>
            <a:ext cx="731520" cy="30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472287" y="1691640"/>
            <a:ext cx="5486400" cy="2194560"/>
          </a:xfrm>
          <a:prstGeom prst="roundRect">
            <a:avLst>
              <a:gd name="adj" fmla="val 12000"/>
            </a:avLst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55167" y="1920240"/>
            <a:ext cx="777240" cy="77724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5167" y="192024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1">
                <a:solidFill>
                  <a:srgbClr val="D4AF37"/>
                </a:solidFill>
                <a:latin typeface="微软雅黑"/>
                <a:rFonts eastAsia="微软雅黑" ascii="微软雅黑" hAnsi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69567" y="1965960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1F2B3D"/>
                </a:solidFill>
                <a:latin typeface="微软雅黑"/>
                <a:rFonts eastAsia="微软雅黑" ascii="微软雅黑" hAnsi="微软雅黑"/>
              </a:rPr>
              <a:t>稳健深耕运输市场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887" y="2743200"/>
            <a:ext cx="50292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微软雅黑"/>
                <a:rFonts eastAsia="微软雅黑" ascii="微软雅黑" hAnsi="微软雅黑"/>
              </a:rPr>
              <a:t>立足福建区位优势，深耕干线、做精支线、做强两岸航线网络，做一条、稳一条、优一条，不贪大求洋、不搞短期冲量。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691640"/>
            <a:ext cx="5486400" cy="2194560"/>
          </a:xfrm>
          <a:prstGeom prst="roundRect">
            <a:avLst>
              <a:gd name="adj" fmla="val 12000"/>
            </a:avLst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415887" y="1920240"/>
            <a:ext cx="777240" cy="77724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15887" y="192024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1">
                <a:solidFill>
                  <a:srgbClr val="D4AF37"/>
                </a:solidFill>
                <a:latin typeface="微软雅黑"/>
                <a:rFonts eastAsia="微软雅黑" ascii="微软雅黑" hAnsi="微软雅黑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0287" y="1965960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1F2B3D"/>
                </a:solidFill>
                <a:latin typeface="微软雅黑"/>
                <a:rFonts eastAsia="微软雅黑" ascii="微软雅黑" hAnsi="微软雅黑"/>
              </a:rPr>
              <a:t>把服务做成口碑政绩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1607" y="2743200"/>
            <a:ext cx="50292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微软雅黑"/>
                <a:rFonts eastAsia="微软雅黑" ascii="微软雅黑" hAnsi="微软雅黑"/>
              </a:rPr>
              <a:t>以旅客出行体验为出发点，优化中转衔接、完善通程航班、升级地面服务，靠真实口碑获评中国质量奖、世界级航空公司。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2287" y="4069080"/>
            <a:ext cx="5486400" cy="2194560"/>
          </a:xfrm>
          <a:prstGeom prst="roundRect">
            <a:avLst>
              <a:gd name="adj" fmla="val 12000"/>
            </a:avLst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55167" y="4297680"/>
            <a:ext cx="777240" cy="77724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5167" y="429768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1">
                <a:solidFill>
                  <a:srgbClr val="D4AF37"/>
                </a:solidFill>
                <a:latin typeface="微软雅黑"/>
                <a:rFonts eastAsia="微软雅黑" ascii="微软雅黑" hAnsi="微软雅黑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69567" y="4343400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1F2B3D"/>
                </a:solidFill>
                <a:latin typeface="微软雅黑"/>
                <a:rFonts eastAsia="微软雅黑" ascii="微软雅黑" hAnsi="微软雅黑"/>
              </a:rPr>
              <a:t>关键时刻扛起政治责任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887" y="5120640"/>
            <a:ext cx="50292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微软雅黑"/>
                <a:rFonts eastAsia="微软雅黑" ascii="微软雅黑" hAnsi="微软雅黑"/>
              </a:rPr>
              <a:t>疫情期间主动承担援鄂援沪包机、医疗物资转运、旅客疏运任务；重大节假日和极端天气优先保障旅客出行，彰显国企担当。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3007" y="4069080"/>
            <a:ext cx="5486400" cy="2194560"/>
          </a:xfrm>
          <a:prstGeom prst="roundRect">
            <a:avLst>
              <a:gd name="adj" fmla="val 12000"/>
            </a:avLst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415887" y="4297680"/>
            <a:ext cx="777240" cy="77724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15887" y="429768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1">
                <a:solidFill>
                  <a:srgbClr val="D4AF37"/>
                </a:solidFill>
                <a:latin typeface="微软雅黑"/>
                <a:rFonts eastAsia="微软雅黑" ascii="微软雅黑" hAnsi="微软雅黑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0287" y="4343400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1F2B3D"/>
                </a:solidFill>
                <a:latin typeface="微软雅黑"/>
                <a:rFonts eastAsia="微软雅黑" ascii="微软雅黑" hAnsi="微软雅黑"/>
              </a:rPr>
              <a:t>坚守合规涵养清风正气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1607" y="5120640"/>
            <a:ext cx="50292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微软雅黑"/>
                <a:rFonts eastAsia="微软雅黑" ascii="微软雅黑" hAnsi="微软雅黑"/>
              </a:rPr>
              <a:t>严格规范航线、运价、代理、采购等关键领域；班子不搞特权、不插手项目、不利用资源谋私利，制度管人、流程管事。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第二部分  以厦航为标杆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20095" y="656539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64592" cy="64008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1F2B3D"/>
                </a:solidFill>
                <a:latin typeface="微软雅黑"/>
                <a:rFonts eastAsia="微软雅黑" ascii="微软雅黑" hAnsi="微软雅黑"/>
              </a:rPr>
              <a:t>（二）厦航历任领导示范引领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66666"/>
                </a:solidFill>
                <a:latin typeface="微软雅黑"/>
                <a:rFonts eastAsia="微软雅黑" ascii="微软雅黑" hAnsi="微软雅黑"/>
              </a:rPr>
              <a:t>实干兴航 · 稳健经营 · 服务大局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47120" cy="1500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457200" y="1344168"/>
            <a:ext cx="731520" cy="30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380847" y="1737360"/>
            <a:ext cx="3657600" cy="4023360"/>
          </a:xfrm>
          <a:prstGeom prst="roundRect">
            <a:avLst>
              <a:gd name="adj" fmla="val 12000"/>
            </a:avLst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80847" y="1737360"/>
            <a:ext cx="3657600" cy="128016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80847" y="1920240"/>
            <a:ext cx="3657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000" b="1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吴荣南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0847" y="25603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D4AF37"/>
                </a:solidFill>
                <a:latin typeface="微软雅黑"/>
                <a:rFonts eastAsia="微软雅黑" ascii="微软雅黑" hAnsi="微软雅黑"/>
              </a:rPr>
              <a:t>创业奠基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447" y="324612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600" b="1">
                <a:solidFill>
                  <a:srgbClr val="1F2B3D"/>
                </a:solidFill>
                <a:latin typeface="微软雅黑"/>
                <a:rFonts eastAsia="微软雅黑" ascii="微软雅黑" hAnsi="微软雅黑"/>
              </a:rPr>
              <a:t>白手起家，不靠政策等靠要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0927" y="4023360"/>
            <a:ext cx="2377440" cy="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167" y="4206240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>
                <a:solidFill>
                  <a:srgbClr val="333333"/>
                </a:solidFill>
                <a:latin typeface="微软雅黑"/>
                <a:rFonts eastAsia="微软雅黑" ascii="微软雅黑" hAnsi="微软雅黑"/>
              </a:rPr>
              <a:t>脚踏实地拓航线、稳客源，与员工同甘共苦，不搞特殊待遇，奠定厦航务实低调、实干兴航的底色。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7047" y="1737360"/>
            <a:ext cx="3657600" cy="4023360"/>
          </a:xfrm>
          <a:prstGeom prst="roundRect">
            <a:avLst>
              <a:gd name="adj" fmla="val 12000"/>
            </a:avLst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267047" y="1737360"/>
            <a:ext cx="3657600" cy="128016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267047" y="1920240"/>
            <a:ext cx="3657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000" b="1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车尚轮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67047" y="25603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D4AF37"/>
                </a:solidFill>
                <a:latin typeface="微软雅黑"/>
                <a:rFonts eastAsia="微软雅黑" ascii="微软雅黑" hAnsi="微软雅黑"/>
              </a:rPr>
              <a:t>品质深耕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5647" y="324612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600" b="1">
                <a:solidFill>
                  <a:srgbClr val="1F2B3D"/>
                </a:solidFill>
                <a:latin typeface="微软雅黑"/>
                <a:rFonts eastAsia="微软雅黑" ascii="微软雅黑" hAnsi="微软雅黑"/>
              </a:rPr>
              <a:t>质量优先，稳健经营不虚胖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07127" y="4023360"/>
            <a:ext cx="2377440" cy="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541367" y="4206240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>
                <a:solidFill>
                  <a:srgbClr val="333333"/>
                </a:solidFill>
                <a:latin typeface="微软雅黑"/>
                <a:rFonts eastAsia="微软雅黑" ascii="微软雅黑" hAnsi="微软雅黑"/>
              </a:rPr>
              <a:t>深耕运输品质、打磨服务链条，以长期主义做运输、做品牌，不靠短期数据注水刷政绩。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53247" y="1737360"/>
            <a:ext cx="3657600" cy="4023360"/>
          </a:xfrm>
          <a:prstGeom prst="roundRect">
            <a:avLst>
              <a:gd name="adj" fmla="val 12000"/>
            </a:avLst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8153247" y="1737360"/>
            <a:ext cx="3657600" cy="128016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153247" y="1920240"/>
            <a:ext cx="3657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000" b="1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赵  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53247" y="25603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D4AF37"/>
                </a:solidFill>
                <a:latin typeface="微软雅黑"/>
                <a:rFonts eastAsia="微软雅黑" ascii="微软雅黑" hAnsi="微软雅黑"/>
              </a:rPr>
              <a:t>融入大局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1847" y="324612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600" b="1">
                <a:solidFill>
                  <a:srgbClr val="1F2B3D"/>
                </a:solidFill>
                <a:latin typeface="微软雅黑"/>
                <a:rFonts eastAsia="微软雅黑" ascii="微软雅黑" hAnsi="微软雅黑"/>
              </a:rPr>
              <a:t>服务地方，融入区域大局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93327" y="4023360"/>
            <a:ext cx="2377440" cy="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427567" y="4206240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>
                <a:solidFill>
                  <a:srgbClr val="333333"/>
                </a:solidFill>
                <a:latin typeface="微软雅黑"/>
                <a:rFonts eastAsia="微软雅黑" ascii="微软雅黑" hAnsi="微软雅黑"/>
              </a:rPr>
              <a:t>优化省内干支航线网络，助力乡村振兴和文旅发展，做强两岸航空运输通道，把企业发展融入国家和区域大局。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第二部分  以厦航为标杆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56539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274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0" b="1">
                <a:solidFill>
                  <a:srgbClr val="D4AF37"/>
                </a:solidFill>
                <a:latin typeface="微软雅黑"/>
                <a:rFonts eastAsia="微软雅黑" ascii="微软雅黑" hAnsi="微软雅黑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640080" cy="4000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029200" y="2011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A81F1F"/>
                </a:solidFill>
                <a:latin typeface="微软雅黑"/>
                <a:rFonts eastAsia="微软雅黑" ascii="微软雅黑" hAnsi="微软雅黑"/>
              </a:rPr>
              <a:t>PART 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651760"/>
            <a:ext cx="6858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1F2B3D"/>
                </a:solidFill>
                <a:latin typeface="微软雅黑"/>
                <a:rFonts eastAsia="微软雅黑" ascii="微软雅黑" hAnsi="微软雅黑"/>
              </a:rPr>
              <a:t>负面典型
民航运输领域政绩观错位事例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572000"/>
            <a:ext cx="6858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66666"/>
                </a:solidFill>
                <a:latin typeface="微软雅黑"/>
                <a:rFonts eastAsia="微软雅黑" ascii="微软雅黑" hAnsi="微软雅黑"/>
              </a:rPr>
              <a:t>Negative Cases for Warning
五类反面问题，警钟长鸣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第三部分  反面典型事例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56539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64592" cy="64008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1F2B3D"/>
                </a:solidFill>
                <a:latin typeface="微软雅黑"/>
                <a:rFonts eastAsia="微软雅黑" ascii="微软雅黑" hAnsi="微软雅黑"/>
              </a:rPr>
              <a:t>反面事例 1：航线开发搞"形象工程"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66666"/>
                </a:solidFill>
                <a:latin typeface="微软雅黑"/>
                <a:rFonts eastAsia="微软雅黑" ascii="微软雅黑" hAnsi="微软雅黑"/>
              </a:rPr>
              <a:t>重显绩轻潜绩 · 重形式轻实效 · 政绩观错位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47120" cy="1500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457200" y="1344168"/>
            <a:ext cx="731520" cy="30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286000" cy="502920"/>
          </a:xfrm>
          <a:prstGeom prst="roundRect">
            <a:avLst>
              <a:gd name="adj" fmla="val 12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⚠  形式主义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23160"/>
            <a:ext cx="137160" cy="45720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60120" y="2423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A81F1F"/>
                </a:solidFill>
                <a:latin typeface="微软雅黑"/>
                <a:rFonts eastAsia="微软雅黑" ascii="微软雅黑" hAnsi="微软雅黑"/>
              </a:rPr>
              <a:t>问题表现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26080"/>
            <a:ext cx="10698480" cy="1828800"/>
          </a:xfrm>
          <a:prstGeom prst="roundRect">
            <a:avLst>
              <a:gd name="adj" fmla="val 12000"/>
            </a:avLst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05840" y="3063240"/>
            <a:ext cx="101498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333333"/>
                </a:solidFill>
                <a:latin typeface="微软雅黑"/>
                <a:rFonts eastAsia="微软雅黑" ascii="微软雅黑" hAnsi="微软雅黑"/>
              </a:rPr>
              <a:t>部分地区民航管理部门和支线机场、航企干部，为完成航线开通考核指标、应付上级检查、打造宣传亮点，盲目申报新开航线，不顾客流基础、市场支撑、收益测算，只为凑航线数量、做开通仪式、上新闻报道；航线开通后不做市场培育、不做客源引流、不优化时刻班次，短期内客座率低迷、持续大额亏损，随后被迫停飞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937760"/>
            <a:ext cx="137160" cy="4572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0120" y="49377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C62828"/>
                </a:solidFill>
                <a:latin typeface="微软雅黑"/>
                <a:rFonts eastAsia="微软雅黑" ascii="微软雅黑" hAnsi="微软雅黑"/>
              </a:rPr>
              <a:t>本质剖析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44068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1F2B3D"/>
                </a:solidFill>
                <a:latin typeface="微软雅黑"/>
                <a:rFonts eastAsia="微软雅黑" ascii="微软雅黑" hAnsi="微软雅黑"/>
              </a:rPr>
              <a:t>只求"开通即政绩"，不求"长久惠民生"，浪费运力资源、财政补贴资源，典型的重显绩轻潜绩、重形式轻实效。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第三部分  反面典型事例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56539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64592" cy="64008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1F2B3D"/>
                </a:solidFill>
                <a:latin typeface="微软雅黑"/>
                <a:rFonts eastAsia="微软雅黑" ascii="微软雅黑" hAnsi="微软雅黑"/>
              </a:rPr>
              <a:t>反面事例 2：运输数据造假玩"数字游戏"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66666"/>
                </a:solidFill>
                <a:latin typeface="微软雅黑"/>
                <a:rFonts eastAsia="微软雅黑" ascii="微软雅黑" hAnsi="微软雅黑"/>
              </a:rPr>
              <a:t>重显绩轻潜绩 · 重形式轻实效 · 政绩观错位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47120" cy="1500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457200" y="1344168"/>
            <a:ext cx="731520" cy="30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286000" cy="502920"/>
          </a:xfrm>
          <a:prstGeom prst="roundRect">
            <a:avLst>
              <a:gd name="adj" fmla="val 12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⚠  弄虚作假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23160"/>
            <a:ext cx="137160" cy="45720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60120" y="2423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A81F1F"/>
                </a:solidFill>
                <a:latin typeface="微软雅黑"/>
                <a:rFonts eastAsia="微软雅黑" ascii="微软雅黑" hAnsi="微软雅黑"/>
              </a:rPr>
              <a:t>问题表现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26080"/>
            <a:ext cx="10698480" cy="1828800"/>
          </a:xfrm>
          <a:prstGeom prst="roundRect">
            <a:avLst>
              <a:gd name="adj" fmla="val 12000"/>
            </a:avLst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05840" y="3063240"/>
            <a:ext cx="101498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333333"/>
                </a:solidFill>
                <a:latin typeface="微软雅黑"/>
                <a:rFonts eastAsia="微软雅黑" ascii="微软雅黑" hAnsi="微软雅黑"/>
              </a:rPr>
              <a:t>个别航企、地方民航单位，为冲旅客吞吐量、航班量、中转量、市场份额等考核数据：人为拆分航班班次、虚增中转旅客统计、内部调账美化经营数据；搞虚假合作、虚构客源协议，报表好看、实际经营惨淡；把精力放在"修饰数据、应付考核"上，不深耕市场、不优化服务、不挖掘真实客源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937760"/>
            <a:ext cx="137160" cy="4572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0120" y="49377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C62828"/>
                </a:solidFill>
                <a:latin typeface="微软雅黑"/>
                <a:rFonts eastAsia="微软雅黑" ascii="微软雅黑" hAnsi="微软雅黑"/>
              </a:rPr>
              <a:t>本质剖析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44068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1F2B3D"/>
                </a:solidFill>
                <a:latin typeface="微软雅黑"/>
                <a:rFonts eastAsia="微软雅黑" ascii="微软雅黑" hAnsi="微软雅黑"/>
              </a:rPr>
              <a:t>误导行业规划和资源投放，典型的弄虚作假、唯指标论的错误政绩观，严重损害民航行业治理基础和公信力。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第三部分  反面典型事例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56539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64592" cy="64008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1F2B3D"/>
                </a:solidFill>
                <a:latin typeface="微软雅黑"/>
                <a:rFonts eastAsia="微软雅黑" ascii="微软雅黑" hAnsi="微软雅黑"/>
              </a:rPr>
              <a:t>反面事例 3：利用运输资源搞特权谋私利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66666"/>
                </a:solidFill>
                <a:latin typeface="微软雅黑"/>
                <a:rFonts eastAsia="微软雅黑" ascii="微软雅黑" hAnsi="微软雅黑"/>
              </a:rPr>
              <a:t>重显绩轻潜绩 · 重形式轻实效 · 政绩观错位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47120" cy="1500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457200" y="1344168"/>
            <a:ext cx="731520" cy="30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286000" cy="502920"/>
          </a:xfrm>
          <a:prstGeom prst="roundRect">
            <a:avLst>
              <a:gd name="adj" fmla="val 12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⚠  权力寻租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23160"/>
            <a:ext cx="137160" cy="45720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60120" y="2423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A81F1F"/>
                </a:solidFill>
                <a:latin typeface="微软雅黑"/>
                <a:rFonts eastAsia="微软雅黑" ascii="微软雅黑" hAnsi="微软雅黑"/>
              </a:rPr>
              <a:t>问题表现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26080"/>
            <a:ext cx="10698480" cy="1828800"/>
          </a:xfrm>
          <a:prstGeom prst="roundRect">
            <a:avLst>
              <a:gd name="adj" fmla="val 12000"/>
            </a:avLst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05840" y="3063240"/>
            <a:ext cx="101498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333333"/>
                </a:solidFill>
                <a:latin typeface="微软雅黑"/>
                <a:rFonts eastAsia="微软雅黑" ascii="微软雅黑" hAnsi="微软雅黑"/>
              </a:rPr>
              <a:t>民航运输领域航线审批、时刻分配、客运代理、运价管控、包机业务、航班合作等权力集中领域，少数干部把公共航空运输资源当作私人筹码，插手航线申请、时刻调整，为关联企业、熟人关系倾斜资源；在客运销售、代理招商、合作外包中优亲厚友、吃拿卡要，破坏运输市场公平秩序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937760"/>
            <a:ext cx="137160" cy="4572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0120" y="49377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C62828"/>
                </a:solidFill>
                <a:latin typeface="微软雅黑"/>
                <a:rFonts eastAsia="微软雅黑" ascii="微软雅黑" hAnsi="微软雅黑"/>
              </a:rPr>
              <a:t>本质剖析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44068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1F2B3D"/>
                </a:solidFill>
                <a:latin typeface="微软雅黑"/>
                <a:rFonts eastAsia="微软雅黑" ascii="微软雅黑" hAnsi="微软雅黑"/>
              </a:rPr>
              <a:t>信奉"有权就有特权"，把行业公共资源异化为个人谋利工具，破坏市场公平秩序，背离为民服务初心。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第三部分  反面典型事例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56539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64592" cy="64008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1F2B3D"/>
                </a:solidFill>
                <a:latin typeface="微软雅黑"/>
                <a:rFonts eastAsia="微软雅黑" ascii="微软雅黑" hAnsi="微软雅黑"/>
              </a:rPr>
              <a:t>反面事例 4：服务作风漂浮搞表面文章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66666"/>
                </a:solidFill>
                <a:latin typeface="微软雅黑"/>
                <a:rFonts eastAsia="微软雅黑" ascii="微软雅黑" hAnsi="微软雅黑"/>
              </a:rPr>
              <a:t>重显绩轻潜绩 · 重形式轻实效 · 政绩观错位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47120" cy="1500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457200" y="1344168"/>
            <a:ext cx="731520" cy="30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286000" cy="502920"/>
          </a:xfrm>
          <a:prstGeom prst="roundRect">
            <a:avLst>
              <a:gd name="adj" fmla="val 12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⚠  作风漂浮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23160"/>
            <a:ext cx="137160" cy="45720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60120" y="2423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A81F1F"/>
                </a:solidFill>
                <a:latin typeface="微软雅黑"/>
                <a:rFonts eastAsia="微软雅黑" ascii="微软雅黑" hAnsi="微软雅黑"/>
              </a:rPr>
              <a:t>问题表现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26080"/>
            <a:ext cx="10698480" cy="1828800"/>
          </a:xfrm>
          <a:prstGeom prst="roundRect">
            <a:avLst>
              <a:gd name="adj" fmla="val 12000"/>
            </a:avLst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05840" y="3063240"/>
            <a:ext cx="101498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333333"/>
                </a:solidFill>
                <a:latin typeface="微软雅黑"/>
                <a:rFonts eastAsia="微软雅黑" ascii="微软雅黑" hAnsi="微软雅黑"/>
              </a:rPr>
              <a:t>部分民航运输一线管理干部，抓服务只做表面文章：热衷搞硬件装修、打造网红候机区域、做宣传展板和宣传片，却不解决旅客反映强烈的中转不便、票务退改繁琐、航班信息不透明、地面衔接不畅等实际问题；检查督导只看台账、看现场布置、看拍照留痕，不深入旅客、不倾听一线员工心声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937760"/>
            <a:ext cx="137160" cy="4572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0120" y="49377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C62828"/>
                </a:solidFill>
                <a:latin typeface="微软雅黑"/>
                <a:rFonts eastAsia="微软雅黑" ascii="微软雅黑" hAnsi="微软雅黑"/>
              </a:rPr>
              <a:t>本质剖析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44068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1F2B3D"/>
                </a:solidFill>
                <a:latin typeface="微软雅黑"/>
                <a:rFonts eastAsia="微软雅黑" ascii="微软雅黑" hAnsi="微软雅黑"/>
              </a:rPr>
              <a:t>工作停留在"做了、说了、宣传了"，没有做到"做实、做好、群众满意"，是典型重表面、轻实效的形式主义政绩观。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第三部分  反面典型事例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56539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64592" cy="64008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1F2B3D"/>
                </a:solidFill>
                <a:latin typeface="微软雅黑"/>
                <a:rFonts eastAsia="微软雅黑" ascii="微软雅黑" hAnsi="微软雅黑"/>
              </a:rPr>
              <a:t>反面事例 5：国企经营粗放盲目扩张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66666"/>
                </a:solidFill>
                <a:latin typeface="微软雅黑"/>
                <a:rFonts eastAsia="微软雅黑" ascii="微软雅黑" hAnsi="微软雅黑"/>
              </a:rPr>
              <a:t>重显绩轻潜绩 · 重形式轻实效 · 政绩观错位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47120" cy="1500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457200" y="1344168"/>
            <a:ext cx="731520" cy="30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286000" cy="502920"/>
          </a:xfrm>
          <a:prstGeom prst="roundRect">
            <a:avLst>
              <a:gd name="adj" fmla="val 12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⚠  短期功利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23160"/>
            <a:ext cx="137160" cy="45720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60120" y="2423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A81F1F"/>
                </a:solidFill>
                <a:latin typeface="微软雅黑"/>
                <a:rFonts eastAsia="微软雅黑" ascii="微软雅黑" hAnsi="微软雅黑"/>
              </a:rPr>
              <a:t>问题表现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26080"/>
            <a:ext cx="10698480" cy="1828800"/>
          </a:xfrm>
          <a:prstGeom prst="roundRect">
            <a:avLst>
              <a:gd name="adj" fmla="val 12000"/>
            </a:avLst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05840" y="3063240"/>
            <a:ext cx="101498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333333"/>
                </a:solidFill>
                <a:latin typeface="微软雅黑"/>
                <a:rFonts eastAsia="微软雅黑" ascii="微软雅黑" hAnsi="微软雅黑"/>
              </a:rPr>
              <a:t>个别民航运输类国企班子，政绩观短期化、功利化：不顾自身经营实力，盲目引进大量飞机、扩张运力、铺设过多网点；粗放管理、成本管控缺失，盲目拼价格、打恶性市场价格战，扰乱行业运输秩序；只追求任期内规模做大、场面做亮，留下高额负债、低效资产、经营隐患给下一任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937760"/>
            <a:ext cx="137160" cy="4572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0120" y="49377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C62828"/>
                </a:solidFill>
                <a:latin typeface="微软雅黑"/>
                <a:rFonts eastAsia="微软雅黑" ascii="微软雅黑" hAnsi="微软雅黑"/>
              </a:rPr>
              <a:t>本质剖析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44068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1F2B3D"/>
                </a:solidFill>
                <a:latin typeface="微软雅黑"/>
                <a:rFonts eastAsia="微软雅黑" ascii="微软雅黑" hAnsi="微软雅黑"/>
              </a:rPr>
              <a:t>缺乏功成不必在我的长远担当，典型的寅吃卯粮、只顾眼前的错误政绩观，贻害企业可持续发展和行业健康生态。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第三部分  反面典型事例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56539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64592" cy="64008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1F2B3D"/>
                </a:solidFill>
                <a:latin typeface="微软雅黑"/>
                <a:rFonts eastAsia="微软雅黑" ascii="微软雅黑" hAnsi="微软雅黑"/>
              </a:rPr>
              <a:t>四、正反对照反思  校准正确政绩观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66666"/>
                </a:solidFill>
                <a:latin typeface="微软雅黑"/>
                <a:rFonts eastAsia="微软雅黑" ascii="微软雅黑" hAnsi="微软雅黑"/>
              </a:rPr>
              <a:t>对照厦航实干稳健、为民务实、合规清廉的正面标杆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47120" cy="1500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457200" y="1344168"/>
            <a:ext cx="731520" cy="30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31520" y="1783080"/>
            <a:ext cx="868680" cy="868680"/>
          </a:xfrm>
          <a:prstGeom prst="ellipse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1">
                <a:solidFill>
                  <a:srgbClr val="D4AF37"/>
                </a:solidFill>
                <a:latin typeface="微软雅黑"/>
                <a:rFonts eastAsia="微软雅黑" ascii="微软雅黑" hAnsi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783080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1F2B3D"/>
                </a:solidFill>
                <a:latin typeface="微软雅黑"/>
                <a:rFonts eastAsia="微软雅黑" ascii="微软雅黑" hAnsi="微软雅黑"/>
              </a:rPr>
              <a:t>坚决不搞形象航线、不做数据政绩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258568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66666"/>
                </a:solidFill>
                <a:latin typeface="微软雅黑"/>
                <a:rFonts eastAsia="微软雅黑" ascii="微软雅黑" hAnsi="微软雅黑"/>
              </a:rPr>
              <a:t>一切工作以旅客真实需求、市场实际规律、企业长远发展为标准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2724912"/>
            <a:ext cx="9601200" cy="8000"/>
          </a:xfrm>
          <a:prstGeom prst="rect">
            <a:avLst/>
          </a:prstGeom>
          <a:solidFill>
            <a:srgbClr val="F5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731520" y="2862072"/>
            <a:ext cx="868680" cy="868680"/>
          </a:xfrm>
          <a:prstGeom prst="ellipse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1520" y="2862072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1">
                <a:solidFill>
                  <a:srgbClr val="D4AF37"/>
                </a:solidFill>
                <a:latin typeface="微软雅黑"/>
                <a:rFonts eastAsia="微软雅黑" ascii="微软雅黑" hAnsi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86207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1F2B3D"/>
                </a:solidFill>
                <a:latin typeface="微软雅黑"/>
                <a:rFonts eastAsia="微软雅黑" ascii="微软雅黑" hAnsi="微软雅黑"/>
              </a:rPr>
              <a:t>坚决不利用航线时刻、运输资源搞特权谋私利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33756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66666"/>
                </a:solidFill>
                <a:latin typeface="微软雅黑"/>
                <a:rFonts eastAsia="微软雅黑" ascii="微软雅黑" hAnsi="微软雅黑"/>
              </a:rPr>
              <a:t>守住公权为公、资源为民的底线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3803904"/>
            <a:ext cx="9601200" cy="8000"/>
          </a:xfrm>
          <a:prstGeom prst="rect">
            <a:avLst/>
          </a:prstGeom>
          <a:solidFill>
            <a:srgbClr val="F5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731520" y="3941064"/>
            <a:ext cx="868680" cy="868680"/>
          </a:xfrm>
          <a:prstGeom prst="ellipse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1520" y="3941064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1">
                <a:solidFill>
                  <a:srgbClr val="D4AF37"/>
                </a:solidFill>
                <a:latin typeface="微软雅黑"/>
                <a:rFonts eastAsia="微软雅黑" ascii="微软雅黑" hAnsi="微软雅黑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941064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1F2B3D"/>
                </a:solidFill>
                <a:latin typeface="微软雅黑"/>
                <a:rFonts eastAsia="微软雅黑" ascii="微软雅黑" hAnsi="微软雅黑"/>
              </a:rPr>
              <a:t>坚决摒弃形式主义，少做表面文章、多解民生实事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416552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66666"/>
                </a:solidFill>
                <a:latin typeface="微软雅黑"/>
                <a:rFonts eastAsia="微软雅黑" ascii="微软雅黑" hAnsi="微软雅黑"/>
              </a:rPr>
              <a:t>把运输服务的功夫下在群众心坎上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4882896"/>
            <a:ext cx="9601200" cy="8000"/>
          </a:xfrm>
          <a:prstGeom prst="rect">
            <a:avLst/>
          </a:prstGeom>
          <a:solidFill>
            <a:srgbClr val="F5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731520" y="5020056"/>
            <a:ext cx="868680" cy="868680"/>
          </a:xfrm>
          <a:prstGeom prst="ellipse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31520" y="5020056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1">
                <a:solidFill>
                  <a:srgbClr val="D4AF37"/>
                </a:solidFill>
                <a:latin typeface="微软雅黑"/>
                <a:rFonts eastAsia="微软雅黑" ascii="微软雅黑" hAnsi="微软雅黑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020056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1F2B3D"/>
                </a:solidFill>
                <a:latin typeface="微软雅黑"/>
                <a:rFonts eastAsia="微软雅黑" ascii="微软雅黑" hAnsi="微软雅黑"/>
              </a:rPr>
              <a:t>坚持稳健经营、久久为功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495544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66666"/>
                </a:solidFill>
                <a:latin typeface="微软雅黑"/>
                <a:rFonts eastAsia="微软雅黑" ascii="微软雅黑" hAnsi="微软雅黑"/>
              </a:rPr>
              <a:t>一任接着一任干，创造经得起实践、群众和历史检验的实绩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第四部分  反思与校准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20095" y="656539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64592" cy="64008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1F2B3D"/>
                </a:solidFill>
                <a:latin typeface="微软雅黑"/>
                <a:rFonts eastAsia="微软雅黑" ascii="微软雅黑" hAnsi="微软雅黑"/>
              </a:rPr>
              <a:t>党员干部三点要求  立足本职担当作为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66666"/>
                </a:solidFill>
                <a:latin typeface="微软雅黑"/>
                <a:rFonts eastAsia="微软雅黑" ascii="微软雅黑" hAnsi="微软雅黑"/>
              </a:rPr>
              <a:t>作为民航系统党员干部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47120" cy="1500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457200" y="1344168"/>
            <a:ext cx="731520" cy="30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380847" y="1691640"/>
            <a:ext cx="3657600" cy="4206240"/>
          </a:xfrm>
          <a:prstGeom prst="roundRect">
            <a:avLst>
              <a:gd name="adj" fmla="val 12000"/>
            </a:avLst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80847" y="1965960"/>
            <a:ext cx="365760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6400" b="1">
                <a:solidFill>
                  <a:srgbClr val="A81F1F"/>
                </a:solidFill>
                <a:latin typeface="微软雅黑"/>
                <a:rFonts eastAsia="微软雅黑" ascii="微软雅黑" hAnsi="微软雅黑"/>
              </a:rPr>
              <a:t>一</a:t>
            </a:r>
          </a:p>
        </p:txBody>
      </p:sp>
      <p:sp>
        <p:nvSpPr>
          <p:cNvPr id="9" name="Rectangle 8"/>
          <p:cNvSpPr/>
          <p:nvPr/>
        </p:nvSpPr>
        <p:spPr>
          <a:xfrm>
            <a:off x="1569567" y="3429000"/>
            <a:ext cx="1280160" cy="20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80847" y="3566159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400" b="1">
                <a:solidFill>
                  <a:srgbClr val="1F2B3D"/>
                </a:solidFill>
                <a:latin typeface="微软雅黑"/>
                <a:rFonts eastAsia="微软雅黑" ascii="微软雅黑" hAnsi="微软雅黑"/>
              </a:rPr>
              <a:t>对标厦航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607" y="4297680"/>
            <a:ext cx="2926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333333"/>
                </a:solidFill>
                <a:latin typeface="微软雅黑"/>
                <a:rFonts eastAsia="微软雅黑" ascii="微软雅黑" hAnsi="微软雅黑"/>
              </a:rPr>
              <a:t>学习其务实经营、服务为民、稳健长远的发展理念，把先进经验转化为本职工作思路与方法。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047" y="1691640"/>
            <a:ext cx="3657600" cy="4206240"/>
          </a:xfrm>
          <a:prstGeom prst="roundRect">
            <a:avLst>
              <a:gd name="adj" fmla="val 12000"/>
            </a:avLst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267047" y="1965960"/>
            <a:ext cx="365760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6400" b="1">
                <a:solidFill>
                  <a:srgbClr val="A81F1F"/>
                </a:solidFill>
                <a:latin typeface="微软雅黑"/>
                <a:rFonts eastAsia="微软雅黑" ascii="微软雅黑" hAnsi="微软雅黑"/>
              </a:rPr>
              <a:t>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55767" y="3429000"/>
            <a:ext cx="1280160" cy="20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267047" y="3566159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400" b="1">
                <a:solidFill>
                  <a:srgbClr val="1F2B3D"/>
                </a:solidFill>
                <a:latin typeface="微软雅黑"/>
                <a:rFonts eastAsia="微软雅黑" ascii="微软雅黑" hAnsi="微软雅黑"/>
              </a:rPr>
              <a:t>以案为戒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2807" y="4297680"/>
            <a:ext cx="2926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333333"/>
                </a:solidFill>
                <a:latin typeface="微软雅黑"/>
                <a:rFonts eastAsia="微软雅黑" ascii="微软雅黑" hAnsi="微软雅黑"/>
              </a:rPr>
              <a:t>从运输领域反面典型中受警醒、明底线、知敬畏，时刻校准政绩观、权力观、利益观。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3247" y="1691640"/>
            <a:ext cx="3657600" cy="4206240"/>
          </a:xfrm>
          <a:prstGeom prst="roundRect">
            <a:avLst>
              <a:gd name="adj" fmla="val 12000"/>
            </a:avLst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153247" y="1965960"/>
            <a:ext cx="365760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6400" b="1">
                <a:solidFill>
                  <a:srgbClr val="A81F1F"/>
                </a:solidFill>
                <a:latin typeface="微软雅黑"/>
                <a:rFonts eastAsia="微软雅黑" ascii="微软雅黑" hAnsi="微软雅黑"/>
              </a:rPr>
              <a:t>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41967" y="3429000"/>
            <a:ext cx="1280160" cy="20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53247" y="3566159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400" b="1">
                <a:solidFill>
                  <a:srgbClr val="1F2B3D"/>
                </a:solidFill>
                <a:latin typeface="微软雅黑"/>
                <a:rFonts eastAsia="微软雅黑" ascii="微软雅黑" hAnsi="微软雅黑"/>
              </a:rPr>
              <a:t>立足本职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9007" y="4297680"/>
            <a:ext cx="2926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333333"/>
                </a:solidFill>
                <a:latin typeface="微软雅黑"/>
                <a:rFonts eastAsia="微软雅黑" ascii="微软雅黑" hAnsi="微软雅黑"/>
              </a:rPr>
              <a:t>在航线保障、客运服务、市场经营、行风建设中坚守初心，为民航运输高质量发展履职尽责、担当作为。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第四部分  反思与校准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56539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8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31520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6126480"/>
            <a:ext cx="12191695" cy="3657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400" b="0">
                <a:solidFill>
                  <a:srgbClr val="D4AF37"/>
                </a:solidFill>
                <a:latin typeface="微软雅黑"/>
                <a:rFonts eastAsia="微软雅黑" ascii="微软雅黑" hAnsi="微软雅黑"/>
              </a:rPr>
              <a:t>结  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4800" b="1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树立和践行正确政绩观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332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4800" b="1">
                <a:solidFill>
                  <a:srgbClr val="D4AF37"/>
                </a:solidFill>
                <a:latin typeface="微软雅黑"/>
                <a:rFonts eastAsia="微软雅黑" ascii="微软雅黑" hAnsi="微软雅黑"/>
              </a:rPr>
              <a:t>为民航高质量发展担当作为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4754880"/>
            <a:ext cx="2103120" cy="20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履职尽责  ·  实干兴航  ·  久久为功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0">
                <a:solidFill>
                  <a:srgbClr val="FFFFFF"/>
                </a:solidFill>
                <a:latin typeface="微软雅黑"/>
                <a:rFonts eastAsia="微软雅黑" ascii="微软雅黑" hAnsi="微软雅黑"/>
              </a:rPr>
              <a:t>感谢聆听  恳请批评指正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